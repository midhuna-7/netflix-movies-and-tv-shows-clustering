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63DC7-73E3-4266-B925-7FC267616FF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F7D4E-4FC5-4FB8-A483-5744CC87D75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551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63DC7-73E3-4266-B925-7FC267616FF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F7D4E-4FC5-4FB8-A483-5744CC87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795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63DC7-73E3-4266-B925-7FC267616FF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F7D4E-4FC5-4FB8-A483-5744CC87D75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99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63DC7-73E3-4266-B925-7FC267616FF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F7D4E-4FC5-4FB8-A483-5744CC87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5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63DC7-73E3-4266-B925-7FC267616FF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F7D4E-4FC5-4FB8-A483-5744CC87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36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63DC7-73E3-4266-B925-7FC267616FF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F7D4E-4FC5-4FB8-A483-5744CC87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947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63DC7-73E3-4266-B925-7FC267616FF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F7D4E-4FC5-4FB8-A483-5744CC87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329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BD63DC7-73E3-4266-B925-7FC267616FF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5F7D4E-4FC5-4FB8-A483-5744CC87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31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63DC7-73E3-4266-B925-7FC267616FF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F7D4E-4FC5-4FB8-A483-5744CC87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776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63DC7-73E3-4266-B925-7FC267616FF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F7D4E-4FC5-4FB8-A483-5744CC87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28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63DC7-73E3-4266-B925-7FC267616FF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F7D4E-4FC5-4FB8-A483-5744CC87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4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BD63DC7-73E3-4266-B925-7FC267616FF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C5F7D4E-4FC5-4FB8-A483-5744CC87D75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62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Netflix Movies and TV Shows Clustering using Unsupervised Machine Learning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60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Problem Statement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Netflix contains thousands of movies and TV shows with different genres, ratings, release years, and descriptions. Since this data does not have predefined labels, identifying similar content manually is difficult.</a:t>
            </a:r>
          </a:p>
          <a:p>
            <a:r>
              <a:rPr lang="en-US" dirty="0" smtClean="0"/>
              <a:t>This project applies </a:t>
            </a:r>
            <a:r>
              <a:rPr lang="en-US" b="1" dirty="0" smtClean="0"/>
              <a:t>unsupervised machine learning</a:t>
            </a:r>
            <a:r>
              <a:rPr lang="en-US" dirty="0" smtClean="0"/>
              <a:t> techniques to automatically group similar content into meaningful clusters, helping improve content organization and recommendation systems.</a:t>
            </a:r>
          </a:p>
          <a:p>
            <a:pPr marL="0" indent="0" algn="ctr">
              <a:buNone/>
            </a:pPr>
            <a:r>
              <a:rPr lang="en-US" dirty="0" smtClean="0"/>
              <a:t>       Netflix Dataset</a:t>
            </a:r>
          </a:p>
          <a:p>
            <a:pPr marL="0" indent="0" algn="ctr">
              <a:buNone/>
            </a:pPr>
            <a:r>
              <a:rPr lang="en-US" dirty="0" smtClean="0"/>
              <a:t>        ↓</a:t>
            </a:r>
          </a:p>
          <a:p>
            <a:pPr marL="0" indent="0" algn="ctr">
              <a:buNone/>
            </a:pPr>
            <a:r>
              <a:rPr lang="en-US" dirty="0" smtClean="0"/>
              <a:t>     Data Cleaning</a:t>
            </a:r>
          </a:p>
          <a:p>
            <a:pPr marL="0" indent="0" algn="ctr">
              <a:buNone/>
            </a:pPr>
            <a:r>
              <a:rPr lang="en-US" dirty="0" smtClean="0"/>
              <a:t>        ↓</a:t>
            </a:r>
          </a:p>
          <a:p>
            <a:pPr marL="0" indent="0" algn="ctr">
              <a:buNone/>
            </a:pPr>
            <a:r>
              <a:rPr lang="en-US" dirty="0" smtClean="0"/>
              <a:t> Clustering</a:t>
            </a:r>
          </a:p>
          <a:p>
            <a:pPr marL="0" indent="0" algn="ctr">
              <a:buNone/>
            </a:pPr>
            <a:r>
              <a:rPr lang="en-US" dirty="0" smtClean="0"/>
              <a:t>        ↓</a:t>
            </a:r>
          </a:p>
          <a:p>
            <a:pPr marL="0" indent="0" algn="ctr">
              <a:buNone/>
            </a:pPr>
            <a:r>
              <a:rPr lang="en-US" dirty="0" smtClean="0"/>
              <a:t>        Business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06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/>
              <a:t>Objectives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Analyze</a:t>
            </a:r>
            <a:r>
              <a:rPr lang="en-IN" dirty="0" smtClean="0"/>
              <a:t> the Netflix dataset. </a:t>
            </a:r>
          </a:p>
          <a:p>
            <a:r>
              <a:rPr lang="en-IN" dirty="0" smtClean="0"/>
              <a:t>Perform data cleaning and </a:t>
            </a:r>
            <a:r>
              <a:rPr lang="en-IN" dirty="0" err="1" smtClean="0"/>
              <a:t>preprocessing</a:t>
            </a:r>
            <a:r>
              <a:rPr lang="en-IN" dirty="0" smtClean="0"/>
              <a:t>. </a:t>
            </a:r>
          </a:p>
          <a:p>
            <a:r>
              <a:rPr lang="en-IN" dirty="0" smtClean="0"/>
              <a:t>Explore the dataset using visualization. </a:t>
            </a:r>
          </a:p>
          <a:p>
            <a:r>
              <a:rPr lang="en-IN" dirty="0" smtClean="0"/>
              <a:t>Build clustering models. </a:t>
            </a:r>
          </a:p>
          <a:p>
            <a:r>
              <a:rPr lang="en-IN" dirty="0" smtClean="0"/>
              <a:t>Compare K-Means, Hierarchical Clustering, and DBSCAN. </a:t>
            </a:r>
          </a:p>
          <a:p>
            <a:r>
              <a:rPr lang="en-IN" dirty="0" smtClean="0"/>
              <a:t>Select the best clustering algorithm. </a:t>
            </a:r>
          </a:p>
          <a:p>
            <a:r>
              <a:rPr lang="en-IN" dirty="0" smtClean="0"/>
              <a:t>Generate business insights.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65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Dataset Description</a:t>
            </a:r>
            <a:endParaRPr lang="en-IN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645235"/>
              </p:ext>
            </p:extLst>
          </p:nvPr>
        </p:nvGraphicFramePr>
        <p:xfrm>
          <a:off x="1096963" y="1846263"/>
          <a:ext cx="10058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Attribute</a:t>
                      </a:r>
                    </a:p>
                  </a:txBody>
                  <a:tcPr marL="87464" marR="87464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</a:t>
                      </a:r>
                    </a:p>
                  </a:txBody>
                  <a:tcPr marL="87464" marR="87464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Dataset</a:t>
                      </a:r>
                    </a:p>
                  </a:txBody>
                  <a:tcPr marL="87464" marR="87464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Netflix Movies &amp; TV Shows</a:t>
                      </a:r>
                    </a:p>
                  </a:txBody>
                  <a:tcPr marL="87464" marR="87464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Records</a:t>
                      </a:r>
                    </a:p>
                  </a:txBody>
                  <a:tcPr marL="87464" marR="87464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7,787</a:t>
                      </a:r>
                    </a:p>
                  </a:txBody>
                  <a:tcPr marL="87464" marR="87464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Columns</a:t>
                      </a:r>
                    </a:p>
                  </a:txBody>
                  <a:tcPr marL="87464" marR="87464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 marL="87464" marR="87464"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572443"/>
              </p:ext>
            </p:extLst>
          </p:nvPr>
        </p:nvGraphicFramePr>
        <p:xfrm>
          <a:off x="838200" y="3269774"/>
          <a:ext cx="10515600" cy="356616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 u="sng" dirty="0" smtClean="0"/>
                        <a:t>Important Features</a:t>
                      </a:r>
                    </a:p>
                    <a:p>
                      <a:endParaRPr lang="en-US" b="1" u="sng" dirty="0" smtClean="0"/>
                    </a:p>
                    <a:p>
                      <a:r>
                        <a:rPr lang="en-US" dirty="0" smtClean="0"/>
                        <a:t>Type </a:t>
                      </a:r>
                    </a:p>
                    <a:p>
                      <a:r>
                        <a:rPr lang="en-US" dirty="0" smtClean="0"/>
                        <a:t>Director </a:t>
                      </a:r>
                    </a:p>
                    <a:p>
                      <a:r>
                        <a:rPr lang="en-US" dirty="0" smtClean="0"/>
                        <a:t>Country </a:t>
                      </a:r>
                    </a:p>
                    <a:p>
                      <a:r>
                        <a:rPr lang="en-US" dirty="0" smtClean="0"/>
                        <a:t>Rating </a:t>
                      </a:r>
                    </a:p>
                    <a:p>
                      <a:r>
                        <a:rPr lang="en-US" dirty="0" smtClean="0"/>
                        <a:t>Duration </a:t>
                      </a:r>
                    </a:p>
                    <a:p>
                      <a:r>
                        <a:rPr lang="en-US" dirty="0" err="1" smtClean="0"/>
                        <a:t>Listed_in</a:t>
                      </a:r>
                      <a:r>
                        <a:rPr lang="en-US" dirty="0" smtClean="0"/>
                        <a:t> (Genre) </a:t>
                      </a:r>
                    </a:p>
                    <a:p>
                      <a:r>
                        <a:rPr lang="en-US" dirty="0" smtClean="0"/>
                        <a:t>Description</a:t>
                      </a:r>
                    </a:p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43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Cleaning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Steps Performed</a:t>
            </a:r>
          </a:p>
          <a:p>
            <a:r>
              <a:rPr lang="en-US" dirty="0" smtClean="0"/>
              <a:t>✔ Removed duplicate records</a:t>
            </a:r>
          </a:p>
          <a:p>
            <a:r>
              <a:rPr lang="en-US" dirty="0" smtClean="0"/>
              <a:t>✔ Handled missing values</a:t>
            </a:r>
          </a:p>
          <a:p>
            <a:r>
              <a:rPr lang="en-US" dirty="0" smtClean="0"/>
              <a:t>✔ Converted date columns</a:t>
            </a:r>
          </a:p>
          <a:p>
            <a:r>
              <a:rPr lang="en-US" dirty="0" smtClean="0"/>
              <a:t>✔ Extracted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Year Added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Month Added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Day Added </a:t>
            </a:r>
          </a:p>
          <a:p>
            <a:r>
              <a:rPr lang="en-US" dirty="0" smtClean="0"/>
              <a:t>✔ Created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Content Age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Genre Count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Duration (Numeric)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394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Feature Engineering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u="sng" dirty="0" smtClean="0"/>
              <a:t>Features Created</a:t>
            </a:r>
          </a:p>
          <a:p>
            <a:r>
              <a:rPr lang="en-US" dirty="0" smtClean="0"/>
              <a:t>One-Hot Encoding </a:t>
            </a:r>
          </a:p>
          <a:p>
            <a:r>
              <a:rPr lang="en-US" dirty="0" smtClean="0"/>
              <a:t>TF-IDF for Genres </a:t>
            </a:r>
          </a:p>
          <a:p>
            <a:r>
              <a:rPr lang="en-US" dirty="0" smtClean="0"/>
              <a:t>TF-IDF for Description </a:t>
            </a:r>
          </a:p>
          <a:p>
            <a:r>
              <a:rPr lang="en-US" dirty="0" err="1" smtClean="0"/>
              <a:t>StandardScaler</a:t>
            </a:r>
            <a:endParaRPr lang="en-US" dirty="0" smtClean="0"/>
          </a:p>
          <a:p>
            <a:pPr marL="0" indent="0" algn="ctr">
              <a:buNone/>
            </a:pPr>
            <a:r>
              <a:rPr lang="en-US" sz="2500" dirty="0" smtClean="0"/>
              <a:t>Text</a:t>
            </a:r>
          </a:p>
          <a:p>
            <a:pPr marL="0" indent="0" algn="ctr">
              <a:buNone/>
            </a:pPr>
            <a:r>
              <a:rPr lang="en-US" sz="2500" dirty="0" smtClean="0"/>
              <a:t>↓</a:t>
            </a:r>
          </a:p>
          <a:p>
            <a:pPr marL="0" indent="0" algn="ctr">
              <a:buNone/>
            </a:pPr>
            <a:r>
              <a:rPr lang="en-US" sz="2500" dirty="0" smtClean="0"/>
              <a:t>TF-IDF</a:t>
            </a:r>
          </a:p>
          <a:p>
            <a:pPr marL="0" indent="0" algn="ctr">
              <a:buNone/>
            </a:pPr>
            <a:r>
              <a:rPr lang="en-US" sz="2500" dirty="0" smtClean="0"/>
              <a:t>↓</a:t>
            </a:r>
          </a:p>
          <a:p>
            <a:pPr marL="0" indent="0" algn="ctr">
              <a:buNone/>
            </a:pPr>
            <a:r>
              <a:rPr lang="en-US" sz="2500" dirty="0" smtClean="0"/>
              <a:t>Numerical Features</a:t>
            </a:r>
          </a:p>
          <a:p>
            <a:pPr marL="0" indent="0" algn="ctr">
              <a:buNone/>
            </a:pPr>
            <a:r>
              <a:rPr lang="en-US" sz="2500" dirty="0" smtClean="0"/>
              <a:t>↓</a:t>
            </a:r>
          </a:p>
          <a:p>
            <a:pPr marL="0" indent="0" algn="ctr">
              <a:buNone/>
            </a:pPr>
            <a:r>
              <a:rPr lang="en-US" sz="2500" dirty="0" smtClean="0"/>
              <a:t>Machine Learning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81794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Clustering Algorithms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459204"/>
              </p:ext>
            </p:extLst>
          </p:nvPr>
        </p:nvGraphicFramePr>
        <p:xfrm>
          <a:off x="1096963" y="1846263"/>
          <a:ext cx="10058400" cy="403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Algorithm</a:t>
                      </a:r>
                    </a:p>
                  </a:txBody>
                  <a:tcPr marL="80042" marR="80042" marT="41840" marB="4184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Description</a:t>
                      </a:r>
                    </a:p>
                  </a:txBody>
                  <a:tcPr marL="80042" marR="80042" marT="41840" marB="4184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Advantages</a:t>
                      </a:r>
                    </a:p>
                  </a:txBody>
                  <a:tcPr marL="80042" marR="80042" marT="41840" marB="41840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Limitations</a:t>
                      </a:r>
                    </a:p>
                  </a:txBody>
                  <a:tcPr marL="80042" marR="80042" marT="41840" marB="4184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/>
                        <a:t>K-Means</a:t>
                      </a:r>
                      <a:endParaRPr lang="en-IN" sz="1600" dirty="0"/>
                    </a:p>
                  </a:txBody>
                  <a:tcPr marL="80042" marR="80042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Centroid-based clustering that partitions data into </a:t>
                      </a:r>
                      <a:r>
                        <a:rPr lang="en-US" sz="1600" i="1" dirty="0"/>
                        <a:t>K</a:t>
                      </a:r>
                      <a:r>
                        <a:rPr lang="en-US" sz="1600" dirty="0"/>
                        <a:t> groups by minimizing the distance between data points and cluster centroids.</a:t>
                      </a:r>
                    </a:p>
                  </a:txBody>
                  <a:tcPr marL="80042" marR="80042" marT="41840" marB="41840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Fast, simple, efficient for large datasets.</a:t>
                      </a:r>
                    </a:p>
                  </a:txBody>
                  <a:tcPr marL="80042" marR="80042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Requires specifying the number of clusters (K), sensitive to outliers, assumes spherical clusters.</a:t>
                      </a:r>
                    </a:p>
                  </a:txBody>
                  <a:tcPr marL="80042" marR="80042" marT="41840" marB="4184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/>
                        <a:t>Hierarchical Clustering</a:t>
                      </a:r>
                      <a:endParaRPr lang="en-IN" sz="1600" dirty="0"/>
                    </a:p>
                  </a:txBody>
                  <a:tcPr marL="80042" marR="80042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Tree-based clustering that builds a hierarchy of clusters represented by a </a:t>
                      </a:r>
                      <a:r>
                        <a:rPr lang="en-US" sz="1600" dirty="0" err="1"/>
                        <a:t>dendrogram</a:t>
                      </a:r>
                      <a:r>
                        <a:rPr lang="en-US" sz="1600" dirty="0"/>
                        <a:t>.</a:t>
                      </a:r>
                    </a:p>
                  </a:txBody>
                  <a:tcPr marL="80042" marR="80042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Does not require specifying the number of clusters initially, easy to visualize relationships.</a:t>
                      </a:r>
                    </a:p>
                  </a:txBody>
                  <a:tcPr marL="80042" marR="80042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Computationally expensive for large datasets, slower than K-Means.</a:t>
                      </a:r>
                    </a:p>
                  </a:txBody>
                  <a:tcPr marL="80042" marR="80042" marT="41840" marB="4184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/>
                        <a:t>DBSCAN</a:t>
                      </a:r>
                      <a:endParaRPr lang="en-IN" sz="1600" dirty="0"/>
                    </a:p>
                  </a:txBody>
                  <a:tcPr marL="80042" marR="80042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Density-based clustering that groups closely packed points and identifies sparse regions as noise or outliers.</a:t>
                      </a:r>
                    </a:p>
                  </a:txBody>
                  <a:tcPr marL="80042" marR="80042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Can detect clusters of arbitrary shapes, identifies outliers automatically.</a:t>
                      </a:r>
                    </a:p>
                  </a:txBody>
                  <a:tcPr marL="80042" marR="80042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Sensitive to parameter selection (</a:t>
                      </a:r>
                      <a:r>
                        <a:rPr lang="en-US" sz="1600" dirty="0" err="1"/>
                        <a:t>eps</a:t>
                      </a:r>
                      <a:r>
                        <a:rPr lang="en-US" sz="1600" dirty="0"/>
                        <a:t> and </a:t>
                      </a:r>
                      <a:r>
                        <a:rPr lang="en-US" sz="1600" dirty="0" err="1"/>
                        <a:t>min_samples</a:t>
                      </a:r>
                      <a:r>
                        <a:rPr lang="en-US" sz="1600" dirty="0"/>
                        <a:t>), struggles with datasets having varying densities.</a:t>
                      </a:r>
                    </a:p>
                  </a:txBody>
                  <a:tcPr marL="80042" marR="80042" marT="41840" marB="4184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84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K-Means Results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054" y="1846263"/>
            <a:ext cx="6164218" cy="4022725"/>
          </a:xfrm>
        </p:spPr>
      </p:pic>
    </p:spTree>
    <p:extLst>
      <p:ext uri="{BB962C8B-B14F-4D97-AF65-F5344CB8AC3E}">
        <p14:creationId xmlns:p14="http://schemas.microsoft.com/office/powerpoint/2010/main" val="317404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566241"/>
            <a:ext cx="389081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Silhouette Score: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0.1931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Davies-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Bouldin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Index: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1.8205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535" y="1846263"/>
            <a:ext cx="5911256" cy="4022725"/>
          </a:xfrm>
        </p:spPr>
      </p:pic>
    </p:spTree>
    <p:extLst>
      <p:ext uri="{BB962C8B-B14F-4D97-AF65-F5344CB8AC3E}">
        <p14:creationId xmlns:p14="http://schemas.microsoft.com/office/powerpoint/2010/main" val="287834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Algorithm Comparison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3505200" cy="1463040"/>
        </p:xfrm>
        <a:graphic>
          <a:graphicData uri="http://schemas.openxmlformats.org/drawingml/2006/table">
            <a:tbl>
              <a:tblPr/>
              <a:tblGrid>
                <a:gridCol w="3505200"/>
              </a:tblGrid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763876"/>
              </p:ext>
            </p:extLst>
          </p:nvPr>
        </p:nvGraphicFramePr>
        <p:xfrm>
          <a:off x="942109" y="2326793"/>
          <a:ext cx="997527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5091"/>
                <a:gridCol w="3325091"/>
                <a:gridCol w="3325091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Silhouette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DB Index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K-Means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0.1931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1.8205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Hierarchical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0.1648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2.2096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DBSCAN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0.1189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1.6799</a:t>
                      </a:r>
                      <a:endParaRPr lang="en-IN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97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Business Insights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u="sng" dirty="0" smtClean="0"/>
              <a:t>Key Insights</a:t>
            </a:r>
          </a:p>
          <a:p>
            <a:r>
              <a:rPr lang="en-US" sz="1800" dirty="0" smtClean="0"/>
              <a:t>Similar Netflix content was grouped successfully. </a:t>
            </a:r>
          </a:p>
          <a:p>
            <a:r>
              <a:rPr lang="en-US" sz="1800" dirty="0" smtClean="0"/>
              <a:t>Drama and International Movies dominate. </a:t>
            </a:r>
          </a:p>
          <a:p>
            <a:r>
              <a:rPr lang="en-US" sz="1800" dirty="0" smtClean="0"/>
              <a:t>Movies outnumber TV Shows. </a:t>
            </a:r>
          </a:p>
          <a:p>
            <a:r>
              <a:rPr lang="en-US" sz="1800" dirty="0" smtClean="0"/>
              <a:t>Clustering improves recommendation quality. </a:t>
            </a:r>
          </a:p>
          <a:p>
            <a:r>
              <a:rPr lang="en-US" sz="1800" dirty="0" smtClean="0"/>
              <a:t>Helps identify content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080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Conclusion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Successfully analyzed and clustered 7,787 Netflix movies and TV shows using unsupervised machine learning techniques. </a:t>
            </a:r>
          </a:p>
          <a:p>
            <a:r>
              <a:rPr lang="en-US" dirty="0" smtClean="0"/>
              <a:t>Performed comprehensive data cleaning, exploratory data analysis, feature engineering, TF-IDF </a:t>
            </a:r>
            <a:r>
              <a:rPr lang="en-US" dirty="0" err="1" smtClean="0"/>
              <a:t>vectorization</a:t>
            </a:r>
            <a:r>
              <a:rPr lang="en-US" dirty="0" smtClean="0"/>
              <a:t>, and feature scaling to prepare the dataset for clustering. </a:t>
            </a:r>
          </a:p>
          <a:p>
            <a:r>
              <a:rPr lang="en-US" dirty="0" smtClean="0"/>
              <a:t>Implemented and compared K-Means, Hierarchical Clustering, and DBSCAN using the Silhouette Score and Davies-</a:t>
            </a:r>
            <a:r>
              <a:rPr lang="en-US" dirty="0" err="1" smtClean="0"/>
              <a:t>Bouldin</a:t>
            </a:r>
            <a:r>
              <a:rPr lang="en-US" dirty="0" smtClean="0"/>
              <a:t> Index. </a:t>
            </a:r>
          </a:p>
          <a:p>
            <a:r>
              <a:rPr lang="en-US" dirty="0" smtClean="0"/>
              <a:t>K-Means was selected as the best-performing algorithm as it achieved the highest Silhouette Score, indicating better cluster quality for this dataset. </a:t>
            </a:r>
          </a:p>
          <a:p>
            <a:r>
              <a:rPr lang="en-US" dirty="0" smtClean="0"/>
              <a:t>The resulting clusters revealed meaningful patterns in Netflix content based on genres, ratings, release years, durations, and descriptions. </a:t>
            </a:r>
          </a:p>
          <a:p>
            <a:r>
              <a:rPr lang="en-US" dirty="0" smtClean="0"/>
              <a:t>These insights can help enhance recommendation systems, improve content categorization, support personalized user experiences, and assist Netflix in making informed business and content strategy decisions. </a:t>
            </a:r>
          </a:p>
          <a:p>
            <a:r>
              <a:rPr lang="en-US" dirty="0" smtClean="0"/>
              <a:t>This project demonstrates how unsupervised machine learning can effectively extract valuable insights from large, unlabeled datasets and can serve as a foundation for developing intelligent content recommendation systems in the future.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73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</TotalTime>
  <Words>570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Retrospect</vt:lpstr>
      <vt:lpstr>Netflix Movies and TV Shows Clustering using Unsupervised Machine Learning</vt:lpstr>
      <vt:lpstr>Problem Statement </vt:lpstr>
      <vt:lpstr>Objectives </vt:lpstr>
      <vt:lpstr>Dataset Description</vt:lpstr>
      <vt:lpstr>Data Cleaning </vt:lpstr>
      <vt:lpstr>Feature Engineering</vt:lpstr>
      <vt:lpstr>Clustering Algorithms</vt:lpstr>
      <vt:lpstr>K-Means Results</vt:lpstr>
      <vt:lpstr>Results Silhouette Score:0.1931 Davies-Bouldin Index:1.8205</vt:lpstr>
      <vt:lpstr>Algorithm Comparison</vt:lpstr>
      <vt:lpstr>Business Insights</vt:lpstr>
      <vt:lpstr>Conclusion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Movies and TV Shows Clustering using Unsupervised Machine Learning</dc:title>
  <dc:creator>DELL 7420 I7 11THGEN</dc:creator>
  <cp:lastModifiedBy>DELL 7420 I7 11THGEN</cp:lastModifiedBy>
  <cp:revision>3</cp:revision>
  <dcterms:created xsi:type="dcterms:W3CDTF">2026-07-31T15:37:02Z</dcterms:created>
  <dcterms:modified xsi:type="dcterms:W3CDTF">2026-07-31T15:46:54Z</dcterms:modified>
</cp:coreProperties>
</file>